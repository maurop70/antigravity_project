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Artisan Mastery: Vegan Coffee Gelato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Professional Formulation &amp; Manufacturing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Small Scale Preparation (Home/Lab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Step 1: Dry Blending: Mix Sugar, Guar Gum, and Gum Arabic to prevent clumping.</a:t>
            </a:r>
          </a:p>
          <a:p>
            <a:pPr>
              <a:spcAft>
                <a:spcPts val="1000"/>
              </a:spcAft>
              <a:defRPr sz="2000"/>
            </a:pPr>
            <a:r>
              <a:t>Step 2: Coffee Infusion: Steep Coffee Grounds and Instant Coffee in 122°F water for 5 minutes; strain.</a:t>
            </a:r>
          </a:p>
          <a:p>
            <a:pPr>
              <a:spcAft>
                <a:spcPts val="1000"/>
              </a:spcAft>
              <a:defRPr sz="2000"/>
            </a:pPr>
            <a:r>
              <a:t>Step 3: Mixing &amp; Emulsification: Add Syrup and Sea Salt. At 140°F, incorporate Coconut Oil and Cashew Butter with a high-speed immersion blender for 2 minutes.</a:t>
            </a:r>
          </a:p>
          <a:p>
            <a:pPr>
              <a:spcAft>
                <a:spcPts val="1000"/>
              </a:spcAft>
              <a:defRPr sz="2000"/>
            </a:pPr>
            <a:r>
              <a:t>Step 4: Pasteurization &amp; Aging: Heat to 185°F for 30 seconds. Cool and age at 40°F for 6–12 hours before churning.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Manufacturing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Dispersion: Mix dry powders and syrups into 113°F water using a high-shear agitator.</a:t>
            </a:r>
          </a:p>
          <a:p>
            <a:pPr>
              <a:spcAft>
                <a:spcPts val="1000"/>
              </a:spcAft>
              <a:defRPr sz="2000"/>
            </a:pPr>
            <a:r>
              <a:t>Two-Stage Homogenization: Pass the hot mix through a homogenizer at 180/40 bar to ensure a microscopic fat emulsion.</a:t>
            </a:r>
          </a:p>
          <a:p>
            <a:pPr>
              <a:spcAft>
                <a:spcPts val="1000"/>
              </a:spcAft>
              <a:defRPr sz="2000"/>
            </a:pPr>
            <a:r>
              <a:t>Flash Cooling: Use a plate heat exchanger to drop the temperature to 40°F instantly.</a:t>
            </a:r>
          </a:p>
          <a:p>
            <a:pPr>
              <a:spcAft>
                <a:spcPts val="1000"/>
              </a:spcAft>
              <a:defRPr sz="2000"/>
            </a:pPr>
            <a:r>
              <a:t>Continuous Freezing: Churn with 25–35% overrun for a dense, premium texture.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Flavor &amp; Aromatic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The Coffee Punch: A dark, vibrant profile reminiscent of a specialty Mocha or Long Black, unmasked by dairy fat.</a:t>
            </a:r>
          </a:p>
          <a:p>
            <a:pPr>
              <a:spcAft>
                <a:spcPts val="1000"/>
              </a:spcAft>
              <a:defRPr sz="2000"/>
            </a:pPr>
            <a:r>
              <a:t>The Cashew Undertone: Toasted nuttiness from the cashew base provides a creamy bridge.</a:t>
            </a:r>
          </a:p>
          <a:p>
            <a:pPr>
              <a:spcAft>
                <a:spcPts val="1000"/>
              </a:spcAft>
              <a:defRPr sz="2000"/>
            </a:pPr>
            <a:r>
              <a:t>Aromatic Experience: Intense roasted coffee aromatics balanced by nutty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Texture &amp; Sensory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Mouthfeel: Exceptionally smooth and "heavy" due to high solids from the cashew and syrup.</a:t>
            </a:r>
          </a:p>
          <a:p>
            <a:pPr>
              <a:spcAft>
                <a:spcPts val="1000"/>
              </a:spcAft>
              <a:defRPr sz="2000"/>
            </a:pPr>
            <a:r>
              <a:t>Melting Behavior: Slower than a sorbet but cleaner than heavy dairy; feels "warm" and velvety on the palate.</a:t>
            </a:r>
          </a:p>
          <a:p>
            <a:pPr>
              <a:spcAft>
                <a:spcPts val="1000"/>
              </a:spcAft>
              <a:defRPr sz="2000"/>
            </a:pPr>
            <a:r>
              <a:t>Visual Appeal: A deep, rich tan with a matte finish and premium artisanal "micro-dots" of coffee.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Aging Time: 6–12 hours at 40°F.</a:t>
            </a:r>
          </a:p>
          <a:p>
            <a:pPr>
              <a:spcAft>
                <a:spcPts val="1000"/>
              </a:spcAft>
              <a:defRPr sz="2000"/>
            </a:pPr>
            <a:r>
              <a:t>Overrun Target: 25–35%.</a:t>
            </a:r>
          </a:p>
          <a:p>
            <a:pPr>
              <a:spcAft>
                <a:spcPts val="1000"/>
              </a:spcAft>
              <a:defRPr sz="2000"/>
            </a:pPr>
            <a:r>
              <a:t>Hardening Temperature: Core temperature of 0°F to -10°F.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